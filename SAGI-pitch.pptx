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Emission</c:v>
                </c:pt>
              </c:strCache>
            </c:strRef>
          </c:tx>
          <c:spPr>
            <a:solidFill>
              <a:srgbClr val="3C7FA8">
                <a:alpha val="4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72</c:v>
                </c:pt>
                <c:pt idx="2">
                  <c:v>52</c:v>
                </c:pt>
                <c:pt idx="3">
                  <c:v>37</c:v>
                </c:pt>
                <c:pt idx="4">
                  <c:v>27</c:v>
                </c:pt>
                <c:pt idx="5">
                  <c:v>19</c:v>
                </c:pt>
                <c:pt idx="6">
                  <c:v>14</c:v>
                </c:pt>
                <c:pt idx="7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C6B7A"/>
                    </a:solidFill>
                    <a:latin typeface="Gothic A1"/>
                  </a:defRPr>
                </a:pPr>
                <a:r>
                  <a:rPr sz="900" b="0" i="0" u="none" strike="noStrike">
                    <a:solidFill>
                      <a:srgbClr val="5C6B7A"/>
                    </a:solidFill>
                    <a:latin typeface="Gothic A1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Gothic A1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8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Gothic A1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135555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Search for Artificial General Intelligence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713232" y="2432304"/>
            <a:ext cx="91440" cy="91440"/>
          </a:xfrm>
          <a:prstGeom prst="ellipse">
            <a:avLst/>
          </a:prstGeom>
          <a:solidFill>
            <a:srgbClr val="C04B6E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100" kern="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vision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58368" y="269748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Democratize the</a:t>
            </a:r>
            <a:endParaRPr lang="en-US" sz="6000" dirty="0"/>
          </a:p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search for AGI.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13232" y="46634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frontier is being built behind closed doors by a handful of labs with concentrated compute. SAGI opens it — a worldwide living laboratory where candidate minds are grown, observed, and selected by many.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13232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A distributed, community-driven research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rad-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pic>
        <p:nvPicPr>
          <p:cNvPr id="3" name="Image 1" descr="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788920"/>
            <a:ext cx="1680892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18120" y="356616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 living laboratory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85800" y="877824"/>
            <a:ext cx="91440" cy="91440"/>
          </a:xfrm>
          <a:prstGeom prst="ellipse">
            <a:avLst/>
          </a:prstGeom>
          <a:solidFill>
            <a:srgbClr val="C04B6E"/>
          </a:solidFill>
          <a:ln/>
        </p:spPr>
      </p:sp>
      <p:sp>
        <p:nvSpPr>
          <p:cNvPr id="6" name="Text 2"/>
          <p:cNvSpPr/>
          <p:nvPr/>
        </p:nvSpPr>
        <p:spPr>
          <a:xfrm>
            <a:off x="886968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100" kern="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Presenting SAGI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0080" y="11430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Search for Artificial</a:t>
            </a:r>
            <a:endParaRPr lang="en-US" sz="3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General Intelligence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685800" y="269748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 distributed research lab that runs an open, evolutionary search for AGI. Lend your idle compute to an evolving population of candidate algorithms — and help find the next generation of AI models.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85800" y="3977640"/>
            <a:ext cx="566928" cy="566928"/>
          </a:xfrm>
          <a:prstGeom prst="ellipse">
            <a:avLst/>
          </a:prstGeom>
          <a:solidFill>
            <a:srgbClr val="F5C5C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94106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Distributed compute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463040" y="42519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Thousands of contributors donate idle compute — no datacenter required.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85800" y="4846320"/>
            <a:ext cx="566928" cy="566928"/>
          </a:xfrm>
          <a:prstGeom prst="ellipse">
            <a:avLst/>
          </a:prstGeom>
          <a:solidFill>
            <a:srgbClr val="F5C5C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8348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480974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Evolutionary search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463040" y="51206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Genomes are grown, verified and selected — Proof of Useful Work, not wasteful mining.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85800" y="5715000"/>
            <a:ext cx="566928" cy="566928"/>
          </a:xfrm>
          <a:prstGeom prst="ellipse">
            <a:avLst/>
          </a:prstGeom>
          <a:solidFill>
            <a:srgbClr val="F5C5C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85216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567842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Community-driven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1463040" y="59893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Open participation and shared upside. The search belongs to everyone.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40664"/>
            <a:ext cx="91440" cy="91440"/>
          </a:xfrm>
          <a:prstGeom prst="ellipse">
            <a:avLst/>
          </a:prstGeom>
          <a:solidFill>
            <a:srgbClr val="C04B6E"/>
          </a:solidFill>
          <a:ln/>
        </p:spPr>
      </p:sp>
      <p:sp>
        <p:nvSpPr>
          <p:cNvPr id="3" name="Text 1"/>
          <p:cNvSpPr/>
          <p:nvPr/>
        </p:nvSpPr>
        <p:spPr>
          <a:xfrm>
            <a:off x="886968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100" kern="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Two sides of the same coin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257800" cy="3246120"/>
          </a:xfrm>
          <a:prstGeom prst="rect">
            <a:avLst/>
          </a:prstGeom>
          <a:solidFill>
            <a:srgbClr val="F5F0E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65960"/>
            <a:ext cx="82296" cy="3246120"/>
          </a:xfrm>
          <a:prstGeom prst="rect">
            <a:avLst/>
          </a:prstGeom>
          <a:solidFill>
            <a:srgbClr val="3C7FA8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286000"/>
            <a:ext cx="566928" cy="566928"/>
          </a:xfrm>
          <a:prstGeom prst="ellipse">
            <a:avLst/>
          </a:prstGeom>
          <a:solidFill>
            <a:srgbClr val="3C7F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2316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The engine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51560" y="29900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A5F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Deep-tech distributed evolutionary search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51560" y="35661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Candidate algorithms evolved, verified and selected across the network.</a:t>
            </a:r>
            <a:endParaRPr lang="en-US" sz="15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Reproducible results, independently verified before any reward.</a:t>
            </a:r>
            <a:endParaRPr lang="en-US" sz="15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5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compute that secures the network is the research itself.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45352" y="1965960"/>
            <a:ext cx="5257800" cy="3246120"/>
          </a:xfrm>
          <a:prstGeom prst="rect">
            <a:avLst/>
          </a:prstGeom>
          <a:solidFill>
            <a:srgbClr val="F5F0EA"/>
          </a:solidFill>
          <a:ln/>
        </p:spPr>
      </p:sp>
      <p:sp>
        <p:nvSpPr>
          <p:cNvPr id="13" name="Shape 10"/>
          <p:cNvSpPr/>
          <p:nvPr/>
        </p:nvSpPr>
        <p:spPr>
          <a:xfrm>
            <a:off x="6245352" y="1965960"/>
            <a:ext cx="82296" cy="3246120"/>
          </a:xfrm>
          <a:prstGeom prst="rect">
            <a:avLst/>
          </a:prstGeom>
          <a:solidFill>
            <a:srgbClr val="C04B6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11112" y="2286000"/>
            <a:ext cx="566928" cy="566928"/>
          </a:xfrm>
          <a:prstGeom prst="ellipse">
            <a:avLst/>
          </a:prstGeom>
          <a:solidFill>
            <a:srgbClr val="C04B6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42316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88352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The SDK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611112" y="29900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A1F3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 developer kit to achieve scale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611112" y="35661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Games and apps plug in idle compute; developers add new use-cases.</a:t>
            </a:r>
            <a:endParaRPr lang="en-US" sz="15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 restricted runtime — never executes arbitrary code from the network.</a:t>
            </a:r>
            <a:endParaRPr lang="en-US" sz="15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5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Every new integration adds compute, and earns tokens.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85800" y="5440680"/>
            <a:ext cx="10817352" cy="868680"/>
          </a:xfrm>
          <a:prstGeom prst="rect">
            <a:avLst/>
          </a:prstGeom>
          <a:solidFill>
            <a:srgbClr val="2E2118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" y="54406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C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More scale</a:t>
            </a:r>
            <a:pPr algn="ctr" indent="0" marL="0">
              <a:buNone/>
            </a:pPr>
            <a:r>
              <a:rPr lang="en-US" sz="2200" dirty="0">
                <a:solidFill>
                  <a:srgbClr val="A8886A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  →  </a:t>
            </a:r>
            <a:pPr algn="ctr" indent="0" marL="0">
              <a:buNone/>
            </a:pPr>
            <a:r>
              <a:rPr lang="en-US" sz="2200" b="1" dirty="0">
                <a:solidFill>
                  <a:srgbClr val="6BADD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more search</a:t>
            </a:r>
            <a:pPr algn="ctr" indent="0" marL="0">
              <a:buNone/>
            </a:pPr>
            <a:r>
              <a:rPr lang="en-US" sz="2200" dirty="0">
                <a:solidFill>
                  <a:srgbClr val="A8886A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  →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higher odds we find AGI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40664"/>
            <a:ext cx="91440" cy="91440"/>
          </a:xfrm>
          <a:prstGeom prst="ellipse">
            <a:avLst/>
          </a:prstGeom>
          <a:solidFill>
            <a:srgbClr val="C04B6E"/>
          </a:solidFill>
          <a:ln/>
        </p:spPr>
      </p:sp>
      <p:sp>
        <p:nvSpPr>
          <p:cNvPr id="3" name="Text 1"/>
          <p:cNvSpPr/>
          <p:nvPr/>
        </p:nvSpPr>
        <p:spPr>
          <a:xfrm>
            <a:off x="886968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100" kern="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economy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A token that rewards useful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Utility token. No premine, no ICO. Capped, decaying emission. The economy axis is accounting, not gambling.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548640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862072"/>
            <a:ext cx="658368" cy="658368"/>
          </a:xfrm>
          <a:prstGeom prst="ellipse">
            <a:avLst/>
          </a:prstGeom>
          <a:solidFill>
            <a:srgbClr val="3C7F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30266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770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Compute rewards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828800" y="313639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Contribute verified compute, earn tokens. Proof of Useful Work — reward scales with compute × usefulness.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4114800"/>
            <a:ext cx="548640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960120" y="4462272"/>
            <a:ext cx="658368" cy="658368"/>
          </a:xfrm>
          <a:prstGeom prst="ellipse">
            <a:avLst/>
          </a:prstGeom>
          <a:solidFill>
            <a:srgbClr val="C04B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62686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4370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Bounties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828800" y="473659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Sponsors fund bounties to steer compute toward specific breakthroughs. Earn by solving them.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8368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Capped, decaying emission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0" y="2743200"/>
          <a:ext cx="51206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/>
          <p:nvPr/>
        </p:nvSpPr>
        <p:spPr>
          <a:xfrm>
            <a:off x="6400800" y="5486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Early contributors earn more; tapering shifts the network from growth to efficiency incentives — better algorithms, not just more hardware.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1220002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1472184"/>
            <a:ext cx="91440" cy="91440"/>
          </a:xfrm>
          <a:prstGeom prst="ellipse">
            <a:avLst/>
          </a:prstGeom>
          <a:solidFill>
            <a:srgbClr val="F5C5CE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100" kern="0" dirty="0">
                <a:solidFill>
                  <a:srgbClr val="FFFF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Team &amp; roadmap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8368" y="1737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Start now. Build in the open.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914400" y="3383280"/>
            <a:ext cx="8503920" cy="0"/>
          </a:xfrm>
          <a:prstGeom prst="line">
            <a:avLst/>
          </a:prstGeom>
          <a:noFill/>
          <a:ln w="19050">
            <a:solidFill>
              <a:srgbClr val="6BAD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3291840"/>
            <a:ext cx="182880" cy="182880"/>
          </a:xfrm>
          <a:prstGeom prst="ellipse">
            <a:avLst/>
          </a:prstGeom>
          <a:solidFill>
            <a:srgbClr val="F5C5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C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Now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Launch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4343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C8DFF0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Genesis network live in demo mode — wallets, ledger, leaderboard.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657600" y="3291840"/>
            <a:ext cx="182880" cy="182880"/>
          </a:xfrm>
          <a:prstGeom prst="ellipse">
            <a:avLst/>
          </a:prstGeom>
          <a:solidFill>
            <a:srgbClr val="F5C5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C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Year 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1188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Vested tokens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11880" y="4343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C8DFF0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Token vesting through the first year aligns early contributors.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92240" y="3291840"/>
            <a:ext cx="182880" cy="182880"/>
          </a:xfrm>
          <a:prstGeom prst="ellipse">
            <a:avLst/>
          </a:prstGeom>
          <a:solidFill>
            <a:srgbClr val="F5C5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C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Ongoing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4652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Bounties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46520" y="4343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C8DFF0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Sponsors steer compute toward targeted breakthroughs.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9326880" y="3291840"/>
            <a:ext cx="182880" cy="182880"/>
          </a:xfrm>
          <a:prstGeom prst="ellipse">
            <a:avLst/>
          </a:prstGeom>
          <a:solidFill>
            <a:srgbClr val="F5C5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8116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C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Q4 '26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28116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SDK goes live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281160" y="4343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C8DFF0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Developers plug games &amp; apps into the network — scale unlocks.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13232" y="6080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Support the search with your idle compute. Help find the next AI models.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SAGI — Pitch</dc:title>
  <dc:subject>PptxGenJS Presentation</dc:subject>
  <dc:creator>SAGI</dc:creator>
  <cp:lastModifiedBy>SAGI</cp:lastModifiedBy>
  <cp:revision>1</cp:revision>
  <dcterms:created xsi:type="dcterms:W3CDTF">2026-06-21T10:43:00Z</dcterms:created>
  <dcterms:modified xsi:type="dcterms:W3CDTF">2026-06-21T10:43:00Z</dcterms:modified>
</cp:coreProperties>
</file>