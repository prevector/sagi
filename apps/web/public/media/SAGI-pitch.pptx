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Emission</c:v>
                </c:pt>
              </c:strCache>
            </c:strRef>
          </c:tx>
          <c:spPr>
            <a:solidFill>
              <a:srgbClr val="3C7FA8"/>
            </a:solidFill>
            <a:ln w="31750" cap="flat">
              <a:solidFill>
                <a:srgbClr val="3C7F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C7FA8"/>
              </a:solidFill>
              <a:ln w="9525" cap="flat">
                <a:solidFill>
                  <a:srgbClr val="3C7F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72</c:v>
                </c:pt>
                <c:pt idx="2">
                  <c:v>52</c:v>
                </c:pt>
                <c:pt idx="3">
                  <c:v>37</c:v>
                </c:pt>
                <c:pt idx="4">
                  <c:v>27</c:v>
                </c:pt>
                <c:pt idx="5">
                  <c:v>19</c:v>
                </c:pt>
                <c:pt idx="6">
                  <c:v>14</c:v>
                </c:pt>
                <c:pt idx="7">
                  <c:v>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Gothic A1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AEC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7A"/>
                </a:solidFill>
                <a:latin typeface="Gothic A1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emerg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logo-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02920"/>
            <a:ext cx="1247113" cy="42062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296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distributed search for general intelligence</a:t>
            </a:r>
            <a:endParaRPr lang="en-US" sz="2000" dirty="0"/>
          </a:p>
        </p:txBody>
      </p:sp>
      <p:sp>
        <p:nvSpPr>
          <p:cNvPr id="5" name="Text 1"/>
          <p:cNvSpPr/>
          <p:nvPr/>
        </p:nvSpPr>
        <p:spPr>
          <a:xfrm>
            <a:off x="804672" y="2852928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We don't know what AGI looks like.</a:t>
            </a:r>
            <a:endParaRPr lang="en-US" sz="34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So let's search and own it, together.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822960" y="4297680"/>
            <a:ext cx="6126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worldwide frontier laboratory where anyone can contribute idle compute. Candidate minds are grown as living organisms, evolved on your hardware, and selected for one thing: the ability to learn.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822960" y="5989320"/>
            <a:ext cx="1783080" cy="420624"/>
          </a:xfrm>
          <a:prstGeom prst="roundRect">
            <a:avLst>
              <a:gd name="adj" fmla="val 50000"/>
            </a:avLst>
          </a:prstGeom>
          <a:solidFill>
            <a:srgbClr val="F5C5CE"/>
          </a:solidFill>
          <a:ln/>
        </p:spPr>
      </p:sp>
      <p:sp>
        <p:nvSpPr>
          <p:cNvPr id="8" name="Text 4"/>
          <p:cNvSpPr/>
          <p:nvPr/>
        </p:nvSpPr>
        <p:spPr>
          <a:xfrm>
            <a:off x="822960" y="5989320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Join the network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2788920" y="5989320"/>
            <a:ext cx="1691640" cy="420624"/>
          </a:xfrm>
          <a:prstGeom prst="roundRect">
            <a:avLst>
              <a:gd name="adj" fmla="val 50000"/>
            </a:avLst>
          </a:prstGeom>
          <a:ln w="12700">
            <a:solidFill>
              <a:srgbClr val="A8886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788920" y="59893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Read the thesis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73152" cy="73152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777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50" kern="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presenting sagi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" y="118872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Search for Artificial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General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A distributed research lab that runs an open, evolutionary search for AGI. Lend your idle compute to an evolving population of candidate algorithms — and help find the next generation of AI models.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00400" cy="0"/>
          </a:xfrm>
          <a:prstGeom prst="line">
            <a:avLst/>
          </a:prstGeom>
          <a:noFill/>
          <a:ln w="12700">
            <a:solidFill>
              <a:srgbClr val="D6D9D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2511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Distributed compute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5257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Thousands of contributors donate idle compute. No datacenter required — the network is the supercomputer.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4480560" y="4069080"/>
            <a:ext cx="3200400" cy="0"/>
          </a:xfrm>
          <a:prstGeom prst="line">
            <a:avLst/>
          </a:prstGeom>
          <a:noFill/>
          <a:ln w="12700">
            <a:solidFill>
              <a:srgbClr val="D6D9D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32511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Evolutionary search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480560" y="5257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Genomes are grown, verified and selected. Proof of Useful Work — the compute is the research, not wasteful mining.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8138160" y="4069080"/>
            <a:ext cx="3200400" cy="0"/>
          </a:xfrm>
          <a:prstGeom prst="line">
            <a:avLst/>
          </a:prstGeom>
          <a:noFill/>
          <a:ln w="12700">
            <a:solidFill>
              <a:srgbClr val="D6D9D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32511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3816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Community-driven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138160" y="52578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Open participation and shared upside. The search — and what it discovers — belongs to everyone.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68680"/>
            <a:ext cx="73152" cy="73152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77724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50" kern="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Two sides of the same coin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0545775" cy="2606040"/>
          </a:xfrm>
          <a:prstGeom prst="roundRect">
            <a:avLst>
              <a:gd name="adj" fmla="val 4211"/>
            </a:avLst>
          </a:prstGeom>
          <a:solidFill>
            <a:srgbClr val="F5F6F7"/>
          </a:solidFill>
          <a:ln w="12700">
            <a:solidFill>
              <a:srgbClr val="D6D9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5848" y="2834640"/>
            <a:ext cx="0" cy="1783080"/>
          </a:xfrm>
          <a:prstGeom prst="line">
            <a:avLst/>
          </a:prstGeom>
          <a:noFill/>
          <a:ln w="12700">
            <a:solidFill>
              <a:srgbClr val="D6D9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807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3C7F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Evolutionary search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325880" y="36576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Candidate algorithms are grown, verified and selected across the network. The compute that secures SAGI is the research itself — Proof of Useful Work, not wasteful mining.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98768" y="28072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04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SDK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98768" y="3172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A kit to achieve scale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98768" y="3657600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6B4F35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Games and apps plug in idle compute; developers add new use-cases and environments. A restricted runtime never executes arbitrary code — every integration adds compute, and earns tokens.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22960" y="5715000"/>
            <a:ext cx="10545775" cy="0"/>
          </a:xfrm>
          <a:prstGeom prst="line">
            <a:avLst/>
          </a:prstGeom>
          <a:noFill/>
          <a:ln w="12700">
            <a:solidFill>
              <a:srgbClr val="D6D9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89788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4B6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more scale</a:t>
            </a:r>
            <a:pPr algn="ctr" indent="0" marL="0">
              <a:buNone/>
            </a:pPr>
            <a:r>
              <a:rPr lang="en-US" sz="2200" b="1" dirty="0">
                <a:solidFill>
                  <a:srgbClr val="A8886A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  →   </a:t>
            </a:r>
            <a:pPr algn="ctr" indent="0" marL="0">
              <a:buNone/>
            </a:pPr>
            <a:r>
              <a:rPr lang="en-US" sz="2200" b="1" dirty="0">
                <a:solidFill>
                  <a:srgbClr val="3C7FA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more search</a:t>
            </a:r>
            <a:pPr algn="ctr" indent="0" marL="0">
              <a:buNone/>
            </a:pPr>
            <a:r>
              <a:rPr lang="en-US" sz="2200" b="1" dirty="0">
                <a:solidFill>
                  <a:srgbClr val="A8886A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  →   </a:t>
            </a:r>
            <a:pPr algn="ctr" indent="0" marL="0">
              <a:buNone/>
            </a:pPr>
            <a:r>
              <a:rPr lang="en-US" sz="22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higher odds we find AGI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73152" cy="73152"/>
          </a:xfrm>
          <a:prstGeom prst="ellipse">
            <a:avLst/>
          </a:prstGeom>
          <a:solidFill>
            <a:srgbClr val="C04B6E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64008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50" kern="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the economy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" y="10241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A token that rewards useful work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Utility token. No premine, no ICO. Capped, decaying emission — accounting, not gambling.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5029200" cy="0"/>
          </a:xfrm>
          <a:prstGeom prst="line">
            <a:avLst/>
          </a:prstGeom>
          <a:noFill/>
          <a:ln w="12700">
            <a:solidFill>
              <a:srgbClr val="A8886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0449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0358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Compute rewards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5021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Contribute verified compute, earn tokens. Reward scales with compute × usefulness — Proof of Useful Work.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480560"/>
            <a:ext cx="5029200" cy="0"/>
          </a:xfrm>
          <a:prstGeom prst="line">
            <a:avLst/>
          </a:prstGeom>
          <a:noFill/>
          <a:ln w="12700">
            <a:solidFill>
              <a:srgbClr val="A8886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73659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Bounties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822960" y="519379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Sponsors fund bounties to steer compute toward targeted breakthroughs. Solve them, earn the pool.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0" y="2788920"/>
            <a:ext cx="49377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6D9D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72084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EMISSION  /  EPOCH</a:t>
            </a:r>
            <a:endParaRPr lang="en-US" sz="11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537960" y="333756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 12"/>
          <p:cNvSpPr/>
          <p:nvPr/>
        </p:nvSpPr>
        <p:spPr>
          <a:xfrm>
            <a:off x="6400800" y="5715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3E2A1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Early contributors earn more; tapering shifts the network from growth to efficiency incentives — better algorithms, not just more hardware.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1138669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2960" y="1508760"/>
            <a:ext cx="73152" cy="73152"/>
          </a:xfrm>
          <a:prstGeom prst="ellipse">
            <a:avLst/>
          </a:prstGeom>
          <a:solidFill>
            <a:srgbClr val="F5C5CE"/>
          </a:solidFill>
          <a:ln/>
        </p:spPr>
      </p:sp>
      <p:sp>
        <p:nvSpPr>
          <p:cNvPr id="4" name="Text 1"/>
          <p:cNvSpPr/>
          <p:nvPr/>
        </p:nvSpPr>
        <p:spPr>
          <a:xfrm>
            <a:off x="1005840" y="14173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50" kern="0" dirty="0">
                <a:solidFill>
                  <a:srgbClr val="E4D8C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roadmap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04672" y="1828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Start now. Build in the open.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914400" y="3611880"/>
            <a:ext cx="8229600" cy="0"/>
          </a:xfrm>
          <a:prstGeom prst="line">
            <a:avLst/>
          </a:prstGeom>
          <a:noFill/>
          <a:ln w="12700">
            <a:solidFill>
              <a:srgbClr val="6B4F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" y="3538728"/>
            <a:ext cx="146304" cy="146304"/>
          </a:xfrm>
          <a:prstGeom prst="ellipse">
            <a:avLst/>
          </a:prstGeom>
          <a:solidFill>
            <a:srgbClr val="F5C5C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F5C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Launch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E4D8C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Genesis network live in demo mode — wallets, ledger and leaderboard.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3584448" y="3538728"/>
            <a:ext cx="146304" cy="146304"/>
          </a:xfrm>
          <a:prstGeom prst="ellipse">
            <a:avLst/>
          </a:prstGeom>
          <a:solidFill>
            <a:srgbClr val="F5C5CE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F5C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Year 1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56616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Vested tokens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566160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E4D8C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Token vesting through the first year aligns early contributors.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327648" y="3538728"/>
            <a:ext cx="146304" cy="146304"/>
          </a:xfrm>
          <a:prstGeom prst="ellipse">
            <a:avLst/>
          </a:prstGeom>
          <a:solidFill>
            <a:srgbClr val="F5C5CE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F5C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Ongoing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Bounties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309360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E4D8C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Sponsors steer compute toward targeted breakthroughs.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9070848" y="3538728"/>
            <a:ext cx="146304" cy="146304"/>
          </a:xfrm>
          <a:prstGeom prst="ellipse">
            <a:avLst/>
          </a:prstGeom>
          <a:solidFill>
            <a:srgbClr val="F5C5CE"/>
          </a:solidFill>
          <a:ln/>
        </p:spPr>
      </p:sp>
      <p:sp>
        <p:nvSpPr>
          <p:cNvPr id="20" name="Text 17"/>
          <p:cNvSpPr/>
          <p:nvPr/>
        </p:nvSpPr>
        <p:spPr>
          <a:xfrm>
            <a:off x="905256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spc="100" kern="0" dirty="0">
                <a:solidFill>
                  <a:srgbClr val="F5C5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 '26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52560" y="4160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SDK goes live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052560" y="45720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dirty="0">
                <a:solidFill>
                  <a:srgbClr val="E4D8C8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Developers plug games &amp; apps into the network — scale unlocks.</a:t>
            </a:r>
            <a:endParaRPr lang="en-US" sz="1450" dirty="0"/>
          </a:p>
        </p:txBody>
      </p:sp>
      <p:sp>
        <p:nvSpPr>
          <p:cNvPr id="23" name="Shape 20"/>
          <p:cNvSpPr/>
          <p:nvPr/>
        </p:nvSpPr>
        <p:spPr>
          <a:xfrm>
            <a:off x="822960" y="5943600"/>
            <a:ext cx="10545775" cy="0"/>
          </a:xfrm>
          <a:prstGeom prst="line">
            <a:avLst/>
          </a:prstGeom>
          <a:noFill/>
          <a:ln w="12700">
            <a:solidFill>
              <a:srgbClr val="6B4F3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" y="6126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ormorant" pitchFamily="34" charset="0"/>
                <a:ea typeface="Cormorant" pitchFamily="34" charset="-122"/>
                <a:cs typeface="Cormorant" pitchFamily="34" charset="-120"/>
              </a:rPr>
              <a:t>Support the search with your idle compute. Help find the next AI models.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738360" y="6089904"/>
            <a:ext cx="1627632" cy="420624"/>
          </a:xfrm>
          <a:prstGeom prst="roundRect">
            <a:avLst>
              <a:gd name="adj" fmla="val 50000"/>
            </a:avLst>
          </a:prstGeom>
          <a:solidFill>
            <a:srgbClr val="F5C5CE"/>
          </a:solidFill>
          <a:ln/>
        </p:spPr>
      </p:sp>
      <p:sp>
        <p:nvSpPr>
          <p:cNvPr id="26" name="Text 23"/>
          <p:cNvSpPr/>
          <p:nvPr/>
        </p:nvSpPr>
        <p:spPr>
          <a:xfrm>
            <a:off x="9738360" y="6089904"/>
            <a:ext cx="1627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E2118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Join the network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SAGI</dc:title>
  <dc:subject>PptxGenJS Presentation</dc:subject>
  <dc:creator>SAGI</dc:creator>
  <cp:lastModifiedBy>SAGI</cp:lastModifiedBy>
  <cp:revision>1</cp:revision>
  <dcterms:created xsi:type="dcterms:W3CDTF">2026-06-21T11:00:40Z</dcterms:created>
  <dcterms:modified xsi:type="dcterms:W3CDTF">2026-06-21T11:00:40Z</dcterms:modified>
</cp:coreProperties>
</file>